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y="5143500" cx="9144000"/>
  <p:notesSz cx="6858000" cy="9144000"/>
  <p:embeddedFontLst>
    <p:embeddedFont>
      <p:font typeface="Roboto Slab"/>
      <p:regular r:id="rId8"/>
      <p:bold r:id="rId9"/>
    </p:embeddedFon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Slab-regular.fntdata"/><Relationship Id="rId9" Type="http://schemas.openxmlformats.org/officeDocument/2006/relationships/font" Target="fonts/RobotoSlab-bold.fntdata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79c14fc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79c14fc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57" name="Google Shape;57;p1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6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2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3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0" y="4649175"/>
            <a:ext cx="9144000" cy="49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5"/>
          <p:cNvSpPr txBox="1"/>
          <p:nvPr>
            <p:ph type="ctrTitle"/>
          </p:nvPr>
        </p:nvSpPr>
        <p:spPr>
          <a:xfrm>
            <a:off x="937716" y="53345"/>
            <a:ext cx="6978600" cy="235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ELMED219 / BMED365 - 2026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                                                      Fredag 9. januar 2026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  Lab 0: Introduksjon til maskinlæring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1308" y="4709275"/>
            <a:ext cx="831543" cy="3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1680300" y="4037225"/>
            <a:ext cx="5783400" cy="300300"/>
          </a:xfrm>
          <a:prstGeom prst="rect">
            <a:avLst/>
          </a:prstGeom>
          <a:noFill/>
          <a:ln cap="flat" cmpd="sng" w="9525">
            <a:solidFill>
              <a:srgbClr val="0051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Arvid Lundervold,  Alexander S. Lundervold (NHH)</a:t>
            </a:r>
            <a:endParaRPr sz="1200">
              <a:solidFill>
                <a:srgbClr val="FFFFFF"/>
              </a:solidFill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022" y="4649175"/>
            <a:ext cx="494400" cy="4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Hva skal vi lære i dag?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✅ Forstå hva maskinlæring er</a:t>
            </a:r>
          </a:p>
          <a:p>
            <a:pPr>
              <a:spcBef>
                <a:spcPts val="1200"/>
              </a:spcBef>
              <a:defRPr sz="2400"/>
            </a:pPr>
            <a:r>
              <a:t>✅ Utforske medisinske datasett (Iris, Diabetes)</a:t>
            </a:r>
          </a:p>
          <a:p>
            <a:pPr>
              <a:spcBef>
                <a:spcPts val="1200"/>
              </a:spcBef>
              <a:defRPr sz="2400"/>
            </a:pPr>
            <a:r>
              <a:t>✅ Trene en klassifikasjonsmodell (Random Forest)</a:t>
            </a:r>
          </a:p>
          <a:p>
            <a:pPr>
              <a:spcBef>
                <a:spcPts val="1200"/>
              </a:spcBef>
              <a:defRPr sz="2400"/>
            </a:pPr>
            <a:r>
              <a:t>✅ Evaluere modellens ytelse</a:t>
            </a:r>
          </a:p>
          <a:p>
            <a:pPr>
              <a:spcBef>
                <a:spcPts val="1200"/>
              </a:spcBef>
              <a:defRPr sz="2400"/>
            </a:pPr>
            <a:r>
              <a:t>✅ Forstå Explainable AI (XAI)</a:t>
            </a:r>
          </a:p>
          <a:p>
            <a:pPr>
              <a:spcBef>
                <a:spcPts val="1200"/>
              </a:spcBef>
              <a:defRPr sz="2400"/>
            </a:pPr>
            <a:r>
              <a:t>✅ Bygge en interaktiv webapp med Gradio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Hva er maskinlæring?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"Maskinlæring er en gren av kunstig intelligens der datamaskiner lærer mønstre fra data, uten å bli eksplisitt programmert."</a:t>
            </a:r>
          </a:p>
          <a:p>
            <a:pPr algn="ctr">
              <a:defRPr sz="2000"/>
            </a:pPr>
            <a:r>
              <a:t>— Arthur Samuel, 1959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ML vs. Tradisjonell programmering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Tradisjonell:</a:t>
            </a:r>
          </a:p>
          <a:p>
            <a:pPr>
              <a:spcBef>
                <a:spcPts val="800"/>
              </a:spcBef>
              <a:defRPr sz="2000"/>
            </a:pPr>
            <a:r>
              <a:t>• if blodsukker &gt; 126:</a:t>
            </a:r>
          </a:p>
          <a:p>
            <a:pPr>
              <a:spcBef>
                <a:spcPts val="800"/>
              </a:spcBef>
              <a:defRPr sz="2000"/>
            </a:pPr>
            <a:r>
              <a:t>•     return 'diabetes'</a:t>
            </a:r>
          </a:p>
          <a:p>
            <a:pPr>
              <a:spcBef>
                <a:spcPts val="800"/>
              </a:spcBef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t>• Programmerer skriver regler</a:t>
            </a:r>
          </a:p>
          <a:p>
            <a:pPr>
              <a:spcBef>
                <a:spcPts val="800"/>
              </a:spcBef>
              <a:defRPr sz="2000"/>
            </a:pPr>
            <a:r>
              <a:t>• Eksplisitte terskelverdier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Maskinlæring:</a:t>
            </a:r>
          </a:p>
          <a:p>
            <a:pPr>
              <a:spcBef>
                <a:spcPts val="800"/>
              </a:spcBef>
              <a:defRPr sz="2000"/>
            </a:pPr>
            <a:r>
              <a:t>• model.fit(X, y)</a:t>
            </a:r>
          </a:p>
          <a:p>
            <a:pPr>
              <a:spcBef>
                <a:spcPts val="800"/>
              </a:spcBef>
              <a:defRPr sz="2000"/>
            </a:pPr>
            <a:r>
              <a:t>• prediction = model.predict(new_data)</a:t>
            </a:r>
          </a:p>
          <a:p>
            <a:pPr>
              <a:spcBef>
                <a:spcPts val="800"/>
              </a:spcBef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t>• Modellen lærer regler fra data</a:t>
            </a:r>
          </a:p>
          <a:p>
            <a:pPr>
              <a:spcBef>
                <a:spcPts val="800"/>
              </a:spcBef>
              <a:defRPr sz="2000"/>
            </a:pPr>
            <a:r>
              <a:t>• Finner terskler automatisk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Hvorfor maskinlæring i medisin?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🏥 Diagnostikk — Bildediagnostikk, patologi, ECG-analyse</a:t>
            </a:r>
          </a:p>
          <a:p>
            <a:pPr>
              <a:spcBef>
                <a:spcPts val="1200"/>
              </a:spcBef>
              <a:defRPr sz="2400"/>
            </a:pPr>
            <a:r>
              <a:t>💊 Behandlingsvalg — Prediksjon av behandlingsrespons</a:t>
            </a:r>
          </a:p>
          <a:p>
            <a:pPr>
              <a:spcBef>
                <a:spcPts val="1200"/>
              </a:spcBef>
              <a:defRPr sz="2400"/>
            </a:pPr>
            <a:r>
              <a:t>⚠️ Risikovurdering — Diabetes, hjertesykdom, sepsis</a:t>
            </a:r>
          </a:p>
          <a:p>
            <a:pPr>
              <a:spcBef>
                <a:spcPts val="1200"/>
              </a:spcBef>
              <a:defRPr sz="2400"/>
            </a:pPr>
            <a:r>
              <a:t>🔬 Legemiddelutvikling — Molekyldesign, bivirkningsprediksjon</a:t>
            </a:r>
          </a:p>
          <a:p>
            <a:pPr>
              <a:spcBef>
                <a:spcPts val="1200"/>
              </a:spcBef>
              <a:defRPr sz="2400"/>
            </a:pPr>
            <a:r>
              <a:t>📊 Pasientmonitorering — Tidlig varsling, ICU-prediksjon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Arbeidsflyt: Fra data til prediksjon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1️⃣ DATA — Samle inn og organisere data</a:t>
            </a:r>
          </a:p>
          <a:p>
            <a:pPr>
              <a:spcBef>
                <a:spcPts val="1200"/>
              </a:spcBef>
              <a:defRPr sz="2400"/>
            </a:pPr>
            <a:r>
              <a:t>2️⃣ PREPROSESSERING — Rensing, normalisering, splitting</a:t>
            </a:r>
          </a:p>
          <a:p>
            <a:pPr>
              <a:spcBef>
                <a:spcPts val="1200"/>
              </a:spcBef>
              <a:defRPr sz="2400"/>
            </a:pPr>
            <a:r>
              <a:t>3️⃣ TRENING — Velg algoritme, tren modell</a:t>
            </a:r>
          </a:p>
          <a:p>
            <a:pPr>
              <a:spcBef>
                <a:spcPts val="1200"/>
              </a:spcBef>
              <a:defRPr sz="2400"/>
            </a:pPr>
            <a:r>
              <a:t>4️⃣ EVALUERING — Test på usett data, mål ytelse</a:t>
            </a:r>
          </a:p>
          <a:p>
            <a:pPr>
              <a:spcBef>
                <a:spcPts val="1200"/>
              </a:spcBef>
              <a:defRPr sz="2400"/>
            </a:pPr>
            <a:r>
              <a:t>5️⃣ DEPLOYMENT — Sett modellen i produksjon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I denne labben fokuserer vi på steg 2-4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Vårt første datasett: Iris-blomster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🌸 150 blomster, 3 arter (Setosa, Versicolor, Virginica)</a:t>
            </a:r>
          </a:p>
          <a:p>
            <a:pPr>
              <a:spcBef>
                <a:spcPts val="1200"/>
              </a:spcBef>
              <a:defRPr sz="2400"/>
            </a:pPr>
            <a:r>
              <a:t>📏 4 egenskaper:</a:t>
            </a:r>
          </a:p>
          <a:p>
            <a:pPr>
              <a:spcBef>
                <a:spcPts val="1200"/>
              </a:spcBef>
              <a:defRPr sz="2400"/>
            </a:pPr>
            <a:r>
              <a:t>     • Sepal length (begerbladlengde)</a:t>
            </a:r>
          </a:p>
          <a:p>
            <a:pPr>
              <a:spcBef>
                <a:spcPts val="1200"/>
              </a:spcBef>
              <a:defRPr sz="2400"/>
            </a:pPr>
            <a:r>
              <a:t>     • Sepal width (begerbladbredde)</a:t>
            </a:r>
          </a:p>
          <a:p>
            <a:pPr>
              <a:spcBef>
                <a:spcPts val="1200"/>
              </a:spcBef>
              <a:defRPr sz="2400"/>
            </a:pPr>
            <a:r>
              <a:t>     • Petal length (kronbladlengde)</a:t>
            </a:r>
          </a:p>
          <a:p>
            <a:pPr>
              <a:spcBef>
                <a:spcPts val="1200"/>
              </a:spcBef>
              <a:defRPr sz="2400"/>
            </a:pPr>
            <a:r>
              <a:t>     • Petal width (kronbladbredde)</a:t>
            </a:r>
          </a:p>
          <a:p>
            <a:pPr>
              <a:spcBef>
                <a:spcPts val="1200"/>
              </a:spcBef>
              <a:defRPr sz="2400"/>
            </a:pPr>
            <a:r>
              <a:t>🎯 Klassisk benchmark-datasett (Fisher, 1936)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Enkelt datasett for å forstå ML-konsepter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Visualisering: Kan vi skille artene?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📊 Scatter plot viser at: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     • Setosa er tydelig separert fra de andre</a:t>
            </a:r>
          </a:p>
          <a:p>
            <a:pPr>
              <a:spcBef>
                <a:spcPts val="1200"/>
              </a:spcBef>
              <a:defRPr sz="2400"/>
            </a:pPr>
            <a:r>
              <a:t>     • Versicolor og Virginica overlapper noe</a:t>
            </a:r>
          </a:p>
          <a:p>
            <a:pPr>
              <a:spcBef>
                <a:spcPts val="1200"/>
              </a:spcBef>
              <a:defRPr sz="2400"/>
            </a:pPr>
            <a:r>
              <a:t>     • Petal-målinger skiller bedre enn sepal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💡 God separasjon → Enklere klassifiseringsoppgave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[Sett inn scatter plot fra notebook her]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Random Forest: Mange trær gir bedre svar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"Som å spørre 100 eksperter og følge flertallet"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Hvordan fungerer Random Forest?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🌳 Ensemble av mange beslutningstrær (f.eks. 100)</a:t>
            </a:r>
          </a:p>
          <a:p>
            <a:pPr>
              <a:spcBef>
                <a:spcPts val="1200"/>
              </a:spcBef>
              <a:defRPr sz="2400"/>
            </a:pPr>
            <a:r>
              <a:t>🎲 Hvert tre trenes på tilfeldig utvalg av data</a:t>
            </a:r>
          </a:p>
          <a:p>
            <a:pPr>
              <a:spcBef>
                <a:spcPts val="1200"/>
              </a:spcBef>
              <a:defRPr sz="2400"/>
            </a:pPr>
            <a:r>
              <a:t>🔀 Hvert tre bruker tilfeldig utvalg av egenskaper</a:t>
            </a:r>
          </a:p>
          <a:p>
            <a:pPr>
              <a:spcBef>
                <a:spcPts val="1200"/>
              </a:spcBef>
              <a:defRPr sz="2400"/>
            </a:pPr>
            <a:r>
              <a:t>🗳️ Prediksjon: Flertallsavstemning mellom trærne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Fordeler: Robust, unngår overfitting, håndterer støy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Hvorfor dele data i trening og test?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Treningsdata (75%):</a:t>
            </a:r>
          </a:p>
          <a:p>
            <a:pPr>
              <a:spcBef>
                <a:spcPts val="800"/>
              </a:spcBef>
              <a:defRPr sz="2000"/>
            </a:pPr>
            <a:r>
              <a:t>• Modellen lærer fra disse</a:t>
            </a:r>
          </a:p>
          <a:p>
            <a:pPr>
              <a:spcBef>
                <a:spcPts val="800"/>
              </a:spcBef>
              <a:defRPr sz="2000"/>
            </a:pPr>
            <a:r>
              <a:t>• Finner mønstre og regler</a:t>
            </a:r>
          </a:p>
          <a:p>
            <a:pPr>
              <a:spcBef>
                <a:spcPts val="800"/>
              </a:spcBef>
              <a:defRPr sz="2000"/>
            </a:pPr>
            <a:r>
              <a:t>• Kan 'pugge' dataene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Testdata (25%):</a:t>
            </a:r>
          </a:p>
          <a:p>
            <a:pPr>
              <a:spcBef>
                <a:spcPts val="800"/>
              </a:spcBef>
              <a:defRPr sz="2000"/>
            </a:pPr>
            <a:r>
              <a:t>• Holdes helt skjult under trening</a:t>
            </a:r>
          </a:p>
          <a:p>
            <a:pPr>
              <a:spcBef>
                <a:spcPts val="800"/>
              </a:spcBef>
              <a:defRPr sz="2000"/>
            </a:pPr>
            <a:r>
              <a:t>• Evaluerer på USETT data</a:t>
            </a:r>
          </a:p>
          <a:p>
            <a:pPr>
              <a:spcBef>
                <a:spcPts val="800"/>
              </a:spcBef>
              <a:defRPr sz="2000"/>
            </a:pPr>
            <a:r>
              <a:t>• Estimerer ytelse i virkeligheten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⚠️ Overfitting: Modellen husker, men forstår ikke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Problem: Modellen lærer treningsdata 'utenat'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Symptom:</a:t>
            </a:r>
          </a:p>
          <a:p>
            <a:pPr>
              <a:spcBef>
                <a:spcPts val="1200"/>
              </a:spcBef>
              <a:defRPr sz="2400"/>
            </a:pPr>
            <a:r>
              <a:t>     • Treningsdata: 99% accuracy</a:t>
            </a:r>
          </a:p>
          <a:p>
            <a:pPr>
              <a:spcBef>
                <a:spcPts val="1200"/>
              </a:spcBef>
              <a:defRPr sz="2400"/>
            </a:pPr>
            <a:r>
              <a:t>     • Testdata: 65% accuracy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Medisinsk konsekvens:</a:t>
            </a:r>
          </a:p>
          <a:p>
            <a:pPr>
              <a:spcBef>
                <a:spcPts val="1200"/>
              </a:spcBef>
              <a:defRPr sz="2400"/>
            </a:pPr>
            <a:r>
              <a:t>Modellen fungerer på 'gamle' pasienter, men feiler på nye!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Løsning: Regularisering, kryss-validering, mer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Random Forest på Iris: 100% accuracy!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Konfusjonsmatrise (testdata, 38 blomster):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                    Predikert</a:t>
            </a:r>
          </a:p>
          <a:p>
            <a:pPr>
              <a:spcBef>
                <a:spcPts val="1200"/>
              </a:spcBef>
              <a:defRPr sz="2400"/>
            </a:pPr>
            <a:r>
              <a:t>                 Set   Ver   Vir</a:t>
            </a:r>
          </a:p>
          <a:p>
            <a:pPr>
              <a:spcBef>
                <a:spcPts val="1200"/>
              </a:spcBef>
              <a:defRPr sz="2400"/>
            </a:pPr>
            <a:r>
              <a:t>Faktisk  Setosa   12    0     0</a:t>
            </a:r>
          </a:p>
          <a:p>
            <a:pPr>
              <a:spcBef>
                <a:spcPts val="1200"/>
              </a:spcBef>
              <a:defRPr sz="2400"/>
            </a:pPr>
            <a:r>
              <a:t>       Versicolor  0    13    0</a:t>
            </a:r>
          </a:p>
          <a:p>
            <a:pPr>
              <a:spcBef>
                <a:spcPts val="1200"/>
              </a:spcBef>
              <a:defRPr sz="2400"/>
            </a:pPr>
            <a:r>
              <a:t>       Virginica   0    0    13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Perfekt klassifisering på testdata!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NB: Dette er et 'lett' datasett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Et mer realistisk eksempel: Diabetes-prediksjon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👩 768 kvinner fra Pima-indianerstammen (Arizona, USA)</a:t>
            </a:r>
          </a:p>
          <a:p>
            <a:pPr>
              <a:spcBef>
                <a:spcPts val="1200"/>
              </a:spcBef>
              <a:defRPr sz="2400"/>
            </a:pPr>
            <a:r>
              <a:t>📅 Data fra 1988 (Pima Indians Diabetes Database)</a:t>
            </a:r>
          </a:p>
          <a:p>
            <a:pPr>
              <a:spcBef>
                <a:spcPts val="1200"/>
              </a:spcBef>
              <a:defRPr sz="2400"/>
            </a:pPr>
            <a:r>
              <a:t>🎯 Mål: Predikere diabetes basert på 8 egenskaper: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     Graviditeter, Glukose, Blodtrykk, Hudfold,</a:t>
            </a:r>
          </a:p>
          <a:p>
            <a:pPr>
              <a:spcBef>
                <a:spcPts val="1200"/>
              </a:spcBef>
              <a:defRPr sz="2400"/>
            </a:pPr>
            <a:r>
              <a:t>     Insulin, BMI, Diabetes Pedigree Function, Alder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Diabetes er vanskeligere enn Iris!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⚖️ Ubalanserte klasser — 65% friske, 35% diabetikere</a:t>
            </a:r>
          </a:p>
          <a:p>
            <a:pPr>
              <a:spcBef>
                <a:spcPts val="1200"/>
              </a:spcBef>
              <a:defRPr sz="2400"/>
            </a:pPr>
            <a:r>
              <a:t>❓ Manglende verdier — 0 = missing for glucose, BMI, etc.</a:t>
            </a:r>
          </a:p>
          <a:p>
            <a:pPr>
              <a:spcBef>
                <a:spcPts val="1200"/>
              </a:spcBef>
              <a:defRPr sz="2400"/>
            </a:pPr>
            <a:r>
              <a:t>🔀 Overlappende klasser — Ingen tydelig separasjon</a:t>
            </a:r>
          </a:p>
          <a:p>
            <a:pPr>
              <a:spcBef>
                <a:spcPts val="1200"/>
              </a:spcBef>
              <a:defRPr sz="2400"/>
            </a:pPr>
            <a:r>
              <a:t>📉 Støy i målingene — Biologisk variasjon</a:t>
            </a:r>
          </a:p>
          <a:p>
            <a:pPr>
              <a:spcBef>
                <a:spcPts val="1200"/>
              </a:spcBef>
              <a:defRPr sz="2400"/>
            </a:pPr>
            <a:r>
              <a:t>📅 Gammelt datasett — 1988 →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Representativt for reelle medisinske data!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Evaluering: Mer enn bare 'prosent riktig'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Metrikk          Definisjon                        Verdi</a:t>
            </a:r>
          </a:p>
          <a:p>
            <a:pPr>
              <a:spcBef>
                <a:spcPts val="1200"/>
              </a:spcBef>
              <a:defRPr sz="2400"/>
            </a:pPr>
            <a: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1200"/>
              </a:spcBef>
              <a:defRPr sz="2400"/>
            </a:pPr>
            <a:r>
              <a:t>Accuracy      Andel korrekte                       74%</a:t>
            </a:r>
          </a:p>
          <a:p>
            <a:pPr>
              <a:spcBef>
                <a:spcPts val="1200"/>
              </a:spcBef>
              <a:defRPr sz="2400"/>
            </a:pPr>
            <a:r>
              <a:t>Precision     Av 'diabetes'-pred, % faktisk syke   65%</a:t>
            </a:r>
          </a:p>
          <a:p>
            <a:pPr>
              <a:spcBef>
                <a:spcPts val="1200"/>
              </a:spcBef>
              <a:defRPr sz="2400"/>
            </a:pPr>
            <a:r>
              <a:t>Recall        Av faktisk syke, % vi finner         58%</a:t>
            </a:r>
          </a:p>
          <a:p>
            <a:pPr>
              <a:spcBef>
                <a:spcPts val="1200"/>
              </a:spcBef>
              <a:defRPr sz="2400"/>
            </a:pPr>
            <a:r>
              <a:t>F1-score      Balanse mellom prec. og recall       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Hvilken metrikk er viktigst? Det avhenger av konteksten!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Konfusjonsmatrise: Hvor feiler modellen?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Matrisen:</a:t>
            </a:r>
          </a:p>
          <a:p>
            <a:pPr>
              <a:spcBef>
                <a:spcPts val="800"/>
              </a:spcBef>
              <a:defRPr sz="2000"/>
            </a:pPr>
            <a:r>
              <a:t>•              Pred: Frisk  Syk</a:t>
            </a:r>
          </a:p>
          <a:p>
            <a:pPr>
              <a:spcBef>
                <a:spcPts val="800"/>
              </a:spcBef>
              <a:defRPr sz="2000"/>
            </a:pPr>
            <a:r>
              <a:t>• Faktisk Frisk    TN=98   FP=22</a:t>
            </a:r>
          </a:p>
          <a:p>
            <a:pPr>
              <a:spcBef>
                <a:spcPts val="800"/>
              </a:spcBef>
              <a:defRPr sz="2000"/>
            </a:pPr>
            <a:r>
              <a:t>•         Syk      FN=29   TP=43</a:t>
            </a:r>
          </a:p>
          <a:p>
            <a:pPr>
              <a:spcBef>
                <a:spcPts val="800"/>
              </a:spcBef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t>• FP = Falske positive</a:t>
            </a:r>
          </a:p>
          <a:p>
            <a:pPr>
              <a:spcBef>
                <a:spcPts val="800"/>
              </a:spcBef>
              <a:defRPr sz="2000"/>
            </a:pPr>
            <a:r>
              <a:t>• FN = Falske negative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Medisinsk perspektiv:</a:t>
            </a:r>
          </a:p>
          <a:p>
            <a:pPr>
              <a:spcBef>
                <a:spcPts val="800"/>
              </a:spcBef>
              <a:defRPr sz="2000"/>
            </a:pPr>
            <a:r>
              <a:t>• FP (22): Unødvendig bekymring</a:t>
            </a:r>
          </a:p>
          <a:p>
            <a:pPr>
              <a:spcBef>
                <a:spcPts val="800"/>
              </a:spcBef>
              <a:defRPr sz="2000"/>
            </a:pPr>
            <a:r>
              <a:t>•          og testing</a:t>
            </a:r>
          </a:p>
          <a:p>
            <a:pPr>
              <a:spcBef>
                <a:spcPts val="800"/>
              </a:spcBef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defRPr sz="2000"/>
            </a:pPr>
            <a:r>
              <a:t>• FN (29): FARLIG! Oversett</a:t>
            </a:r>
          </a:p>
          <a:p>
            <a:pPr>
              <a:spcBef>
                <a:spcPts val="800"/>
              </a:spcBef>
              <a:defRPr sz="2000"/>
            </a:pPr>
            <a:r>
              <a:t>•          sykdom, forsinket</a:t>
            </a:r>
          </a:p>
          <a:p>
            <a:pPr>
              <a:spcBef>
                <a:spcPts val="800"/>
              </a:spcBef>
              <a:defRPr sz="2000"/>
            </a:pPr>
            <a:r>
              <a:t>•          behandling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Trade-off: Precision vs.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Screening (høy recall):</a:t>
            </a:r>
          </a:p>
          <a:p>
            <a:pPr>
              <a:spcBef>
                <a:spcPts val="800"/>
              </a:spcBef>
              <a:defRPr sz="2000"/>
            </a:pPr>
            <a:r>
              <a:t>• Mål: Fange ALLE syke</a:t>
            </a:r>
          </a:p>
          <a:p>
            <a:pPr>
              <a:spcBef>
                <a:spcPts val="800"/>
              </a:spcBef>
              <a:defRPr sz="2000"/>
            </a:pPr>
            <a:r>
              <a:t>• Aksepterer falske positive</a:t>
            </a:r>
          </a:p>
          <a:p>
            <a:pPr>
              <a:spcBef>
                <a:spcPts val="800"/>
              </a:spcBef>
              <a:defRPr sz="2000"/>
            </a:pPr>
            <a:r>
              <a:t>• Eksempel: Årlig helsesjekk</a:t>
            </a:r>
          </a:p>
          <a:p>
            <a:pPr>
              <a:spcBef>
                <a:spcPts val="800"/>
              </a:spcBef>
              <a:defRPr sz="2000"/>
            </a:pPr>
            <a:r>
              <a:t>• Terskel: Lav (f.eks. 30%)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Bekreftende test (høy prec.):</a:t>
            </a:r>
          </a:p>
          <a:p>
            <a:pPr>
              <a:spcBef>
                <a:spcPts val="800"/>
              </a:spcBef>
              <a:defRPr sz="2000"/>
            </a:pPr>
            <a:r>
              <a:t>• Mål: Være SIKKER</a:t>
            </a:r>
          </a:p>
          <a:p>
            <a:pPr>
              <a:spcBef>
                <a:spcPts val="800"/>
              </a:spcBef>
              <a:defRPr sz="2000"/>
            </a:pPr>
            <a:r>
              <a:t>• Risikerer å overse noen</a:t>
            </a:r>
          </a:p>
          <a:p>
            <a:pPr>
              <a:spcBef>
                <a:spcPts val="800"/>
              </a:spcBef>
              <a:defRPr sz="2000"/>
            </a:pPr>
            <a:r>
              <a:t>• Eksempel: Før medisinering</a:t>
            </a:r>
          </a:p>
          <a:p>
            <a:pPr>
              <a:spcBef>
                <a:spcPts val="800"/>
              </a:spcBef>
              <a:defRPr sz="2000"/>
            </a:pPr>
            <a:r>
              <a:t>• Terskel: Høy (f.eks. 70%)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/>
            </a:pPr>
            <a:r>
              <a:t>"En lege kan ikke stole på en 'black box' som sier 'du har diabetes' uten forklaring."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XAI-metoder: Åpne den svarte boksen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🏆 Feature Importance — Hvilke egenskaper er viktigst?</a:t>
            </a:r>
          </a:p>
          <a:p>
            <a:pPr>
              <a:spcBef>
                <a:spcPts val="1200"/>
              </a:spcBef>
              <a:defRPr sz="2400"/>
            </a:pPr>
            <a:r>
              <a:t>📈 Partial Dependence Plots — Hvordan påvirker én egenskap?</a:t>
            </a:r>
          </a:p>
          <a:p>
            <a:pPr>
              <a:spcBef>
                <a:spcPts val="1200"/>
              </a:spcBef>
              <a:defRPr sz="2400"/>
            </a:pPr>
            <a:r>
              <a:t>🔍 Permutation Importance — Hvor mye taper vi uten en egenskap?</a:t>
            </a:r>
          </a:p>
          <a:p>
            <a:pPr>
              <a:spcBef>
                <a:spcPts val="1200"/>
              </a:spcBef>
              <a:defRPr sz="2400"/>
            </a:pPr>
            <a:r>
              <a:t>🧩 SHAP — Hvorfor fikk DENNE pasienten dette svaret?</a:t>
            </a:r>
          </a:p>
          <a:p>
            <a:pPr>
              <a:spcBef>
                <a:spcPts val="1200"/>
              </a:spcBef>
              <a:defRPr sz="2400"/>
            </a:pPr>
            <a:r>
              <a:t>🎯 LIME — Lokal forklaring for enkeltprediksjoner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Feature Importance: Hvilke egenskaper er viktigst?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glucose        ████████████████████  (0.25)</a:t>
            </a:r>
          </a:p>
          <a:p>
            <a:pPr>
              <a:spcBef>
                <a:spcPts val="1200"/>
              </a:spcBef>
              <a:defRPr sz="2400"/>
            </a:pPr>
            <a:r>
              <a:t>bmi            ██████████████        (0.18)</a:t>
            </a:r>
          </a:p>
          <a:p>
            <a:pPr>
              <a:spcBef>
                <a:spcPts val="1200"/>
              </a:spcBef>
              <a:defRPr sz="2400"/>
            </a:pPr>
            <a:r>
              <a:t>age            ██████████            (0.13)</a:t>
            </a:r>
          </a:p>
          <a:p>
            <a:pPr>
              <a:spcBef>
                <a:spcPts val="1200"/>
              </a:spcBef>
              <a:defRPr sz="2400"/>
            </a:pPr>
            <a:r>
              <a:t>dpf            ████████              (0.10)</a:t>
            </a:r>
          </a:p>
          <a:p>
            <a:pPr>
              <a:spcBef>
                <a:spcPts val="1200"/>
              </a:spcBef>
              <a:defRPr sz="2400"/>
            </a:pPr>
            <a:r>
              <a:t>pregnancies    ██████                (0.08)</a:t>
            </a:r>
          </a:p>
          <a:p>
            <a:pPr>
              <a:spcBef>
                <a:spcPts val="1200"/>
              </a:spcBef>
              <a:defRPr sz="2400"/>
            </a:pPr>
            <a:r>
              <a:t>diastolic      ████                  (0.06)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💡 Glukose er klart viktigst for diabetes-prediksjon!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Partial Dependence Plot: Glucose →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PDP viser hvordan predikert sannsynlighet endres</a:t>
            </a:r>
          </a:p>
          <a:p>
            <a:pPr>
              <a:spcBef>
                <a:spcPts val="1200"/>
              </a:spcBef>
              <a:defRPr sz="2400"/>
            </a:pPr>
            <a:r>
              <a:t>når vi varierer glucose, alt annet holdt konstant: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     Glucose &lt; 100:  Lav risiko (~20%)</a:t>
            </a:r>
          </a:p>
          <a:p>
            <a:pPr>
              <a:spcBef>
                <a:spcPts val="1200"/>
              </a:spcBef>
              <a:defRPr sz="2400"/>
            </a:pPr>
            <a:r>
              <a:t>     Glucose 100-125: Moderat risiko (~40%)</a:t>
            </a:r>
          </a:p>
          <a:p>
            <a:pPr>
              <a:spcBef>
                <a:spcPts val="1200"/>
              </a:spcBef>
              <a:defRPr sz="2400"/>
            </a:pPr>
            <a:r>
              <a:t>     Glucose &gt; 140:  Høy risiko (~70%+)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💡 Samsvarer med kliniske grenseverdier!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[Sett inn PDP-figur fra notebook her]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Pålitelig AI i medisin: 6 pilarer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1️⃣ NØYAKTIGHET — Fungerer modellen godt nok?</a:t>
            </a:r>
          </a:p>
          <a:p>
            <a:pPr>
              <a:spcBef>
                <a:spcPts val="1200"/>
              </a:spcBef>
              <a:defRPr sz="2400"/>
            </a:pPr>
            <a:r>
              <a:t>2️⃣ FORKLARBARHET — Kan vi forstå beslutningene?</a:t>
            </a:r>
          </a:p>
          <a:p>
            <a:pPr>
              <a:spcBef>
                <a:spcPts val="1200"/>
              </a:spcBef>
              <a:defRPr sz="2400"/>
            </a:pPr>
            <a:r>
              <a:t>3️⃣ RETTFERDIGHET — Fungerer den likt for alle grupper?</a:t>
            </a:r>
          </a:p>
          <a:p>
            <a:pPr>
              <a:spcBef>
                <a:spcPts val="1200"/>
              </a:spcBef>
              <a:defRPr sz="2400"/>
            </a:pPr>
            <a:r>
              <a:t>4️⃣ ROBUSTHET — Tåler den støy og angrep?</a:t>
            </a:r>
          </a:p>
          <a:p>
            <a:pPr>
              <a:spcBef>
                <a:spcPts val="1200"/>
              </a:spcBef>
              <a:defRPr sz="2400"/>
            </a:pPr>
            <a:r>
              <a:t>5️⃣ PERSONVERN — Er pasientdata beskyttet?</a:t>
            </a:r>
          </a:p>
          <a:p>
            <a:pPr>
              <a:spcBef>
                <a:spcPts val="1200"/>
              </a:spcBef>
              <a:defRPr sz="2400"/>
            </a:pPr>
            <a:r>
              <a:t>6️⃣ ANSVARLIGHET — Hvem har ansvaret når AI feiler?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EU AI Act krever dette for høyrisiko-AI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Etiske utfordringer i medisinsk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🌍 POPULASJONSBIAS — Pima-data → norske pasienter?</a:t>
            </a:r>
          </a:p>
          <a:p>
            <a:pPr>
              <a:spcBef>
                <a:spcPts val="1200"/>
              </a:spcBef>
              <a:defRPr sz="2400"/>
            </a:pPr>
            <a:r>
              <a:t>⏰ HISTORISK BIAS — 1988-data → 2026-pasienter?</a:t>
            </a:r>
          </a:p>
          <a:p>
            <a:pPr>
              <a:spcBef>
                <a:spcPts val="1200"/>
              </a:spcBef>
              <a:defRPr sz="2400"/>
            </a:pPr>
            <a:r>
              <a:t>👫 KJØNNSBIAS — Kun kvinner i datasettet</a:t>
            </a:r>
          </a:p>
          <a:p>
            <a:pPr>
              <a:spcBef>
                <a:spcPts val="1200"/>
              </a:spcBef>
              <a:defRPr sz="2400"/>
            </a:pPr>
            <a:r>
              <a:t>📜 INFORMERT SAMTYKKE — Bør pasienten vite om AI?</a:t>
            </a:r>
          </a:p>
          <a:p>
            <a:pPr>
              <a:spcBef>
                <a:spcPts val="1200"/>
              </a:spcBef>
              <a:defRPr sz="2400"/>
            </a:pPr>
            <a:r>
              <a:t>⚖️ ANSVAR — Hvem har skylden hvis AI tar feil?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Viktig: Alltid valider på lokal populasjon!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Fra notebook til webapp med Gradio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Gradio gjør det enkelt å lage interaktive webapper: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     gr.Interface(</a:t>
            </a:r>
          </a:p>
          <a:p>
            <a:pPr>
              <a:spcBef>
                <a:spcPts val="1200"/>
              </a:spcBef>
              <a:defRPr sz="2400"/>
            </a:pPr>
            <a:r>
              <a:t>         fn=predict_diabetes,</a:t>
            </a:r>
          </a:p>
          <a:p>
            <a:pPr>
              <a:spcBef>
                <a:spcPts val="1200"/>
              </a:spcBef>
              <a:defRPr sz="2400"/>
            </a:pPr>
            <a:r>
              <a:t>         inputs=[Slider('Alder'), Slider('BMI'), ...],</a:t>
            </a:r>
          </a:p>
          <a:p>
            <a:pPr>
              <a:spcBef>
                <a:spcPts val="1200"/>
              </a:spcBef>
              <a:defRPr sz="2400"/>
            </a:pPr>
            <a:r>
              <a:t>         outputs=Textbox('Prediksjon')</a:t>
            </a:r>
          </a:p>
          <a:p>
            <a:pPr>
              <a:spcBef>
                <a:spcPts val="1200"/>
              </a:spcBef>
              <a:defRPr sz="2400"/>
            </a:pPr>
            <a:r>
              <a:t>     ).launch()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✅ Ingen frontend-kode nødvendig!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[Sett inn skjermbilde av Gradio-appen her]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Oppsummering: Hva har vi lært?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✅ ML lærer mønstre fra data automatisk</a:t>
            </a:r>
          </a:p>
          <a:p>
            <a:pPr>
              <a:spcBef>
                <a:spcPts val="1200"/>
              </a:spcBef>
              <a:defRPr sz="2400"/>
            </a:pPr>
            <a:r>
              <a:t>✅ Random Forest: Robust ensemble av beslutningstrær</a:t>
            </a:r>
          </a:p>
          <a:p>
            <a:pPr>
              <a:spcBef>
                <a:spcPts val="1200"/>
              </a:spcBef>
              <a:defRPr sz="2400"/>
            </a:pPr>
            <a:r>
              <a:t>✅ Train/test split: Unngå overfitting, evaluer på usett data</a:t>
            </a:r>
          </a:p>
          <a:p>
            <a:pPr>
              <a:spcBef>
                <a:spcPts val="1200"/>
              </a:spcBef>
              <a:defRPr sz="2400"/>
            </a:pPr>
            <a:r>
              <a:t>✅ Evaluering: Accuracy, precision, recall, F1, konfusjonsmatrise</a:t>
            </a:r>
          </a:p>
          <a:p>
            <a:pPr>
              <a:spcBef>
                <a:spcPts val="1200"/>
              </a:spcBef>
              <a:defRPr sz="2400"/>
            </a:pPr>
            <a:r>
              <a:t>✅ XAI: Feature importance, PDP forklarer modellen</a:t>
            </a:r>
          </a:p>
          <a:p>
            <a:pPr>
              <a:spcBef>
                <a:spcPts val="1200"/>
              </a:spcBef>
              <a:defRPr sz="2400"/>
            </a:pPr>
            <a:r>
              <a:t>✅ Trustworthy AI: 6 pilarer for pålitelig medisinsk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A70"/>
                </a:solidFill>
              </a:defRPr>
            </a:pPr>
            <a:r>
              <a:t>Videre læring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📘 Ressurser:</a:t>
            </a:r>
          </a:p>
          <a:p>
            <a:pPr>
              <a:spcBef>
                <a:spcPts val="1200"/>
              </a:spcBef>
              <a:defRPr sz="2400"/>
            </a:pPr>
            <a:r>
              <a:t>     • Molnar: Interpretable ML (gratis online)</a:t>
            </a:r>
          </a:p>
          <a:p>
            <a:pPr>
              <a:spcBef>
                <a:spcPts val="1200"/>
              </a:spcBef>
              <a:defRPr sz="2400"/>
            </a:pPr>
            <a:r>
              <a:t>     • James et al.: ISLP (gratis online)</a:t>
            </a:r>
          </a:p>
          <a:p>
            <a:pPr>
              <a:spcBef>
                <a:spcPts val="1200"/>
              </a:spcBef>
              <a:defRPr sz="2400"/>
            </a:pPr>
            <a:r>
              <a:t>     • scikit-learn.org, gradio.app</a:t>
            </a:r>
          </a:p>
          <a:p>
            <a:pPr>
              <a:spcBef>
                <a:spcPts val="1200"/>
              </a:spcBef>
              <a:defRPr sz="2400"/>
            </a:pPr>
          </a:p>
          <a:p>
            <a:pPr>
              <a:spcBef>
                <a:spcPts val="1200"/>
              </a:spcBef>
              <a:defRPr sz="2400"/>
            </a:pPr>
            <a:r>
              <a:t>🔜 Neste labs:</a:t>
            </a:r>
          </a:p>
          <a:p>
            <a:pPr>
              <a:spcBef>
                <a:spcPts val="1200"/>
              </a:spcBef>
              <a:defRPr sz="2400"/>
            </a:pPr>
            <a:r>
              <a:t>     • Lab 1: Nettverksvitenskap og PSN</a:t>
            </a:r>
          </a:p>
          <a:p>
            <a:pPr>
              <a:spcBef>
                <a:spcPts val="1200"/>
              </a:spcBef>
              <a:defRPr sz="2400"/>
            </a:pPr>
            <a:r>
              <a:t>     • Lab 2: Dyp læring</a:t>
            </a:r>
          </a:p>
          <a:p>
            <a:pPr>
              <a:spcBef>
                <a:spcPts val="1200"/>
              </a:spcBef>
              <a:defRPr sz="2400"/>
            </a:pPr>
            <a:r>
              <a:t>     • Lab 3: Generativ AI og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646464"/>
                </a:solidFill>
              </a:defRPr>
            </a:pPr>
            <a:r>
              <a:t>Lykke til med videre læring!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